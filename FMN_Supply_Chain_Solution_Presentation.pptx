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456"/>
                </a:solidFill>
              </a:defRPr>
            </a:pPr>
            <a:r>
              <a:t>Supply Chain Risk Insight: From Business Problem to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6606A"/>
                </a:solidFill>
              </a:defRPr>
            </a:pPr>
            <a:r>
              <a:t>FMN Supply Chain AI Solution Walkthrough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3657600" cy="2651760"/>
          </a:xfrm>
          <a:prstGeom prst="rect">
            <a:avLst/>
          </a:prstGeom>
          <a:solidFill>
            <a:srgbClr val="FFFFFF"/>
          </a:solidFill>
          <a:ln w="25400">
            <a:solidFill>
              <a:srgbClr val="2D73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spcAft>
                <a:spcPts val="800"/>
              </a:spcAft>
              <a:defRPr sz="2000" b="1">
                <a:solidFill>
                  <a:srgbClr val="123456"/>
                </a:solidFill>
              </a:defRPr>
            </a:pPr>
            <a:r>
              <a:t>Business Problem</a:t>
            </a:r>
          </a:p>
          <a:p>
            <a:pPr>
              <a:spcAft>
                <a:spcPts val="800"/>
              </a:spcAft>
              <a:defRPr sz="1500" b="0">
                <a:solidFill>
                  <a:srgbClr val="1E1E1E"/>
                </a:solidFill>
              </a:defRPr>
            </a:pPr>
            <a:r>
              <a:t>• Stockouts and excess inventory were reducing service and increasing cost</a:t>
            </a:r>
          </a:p>
          <a:p>
            <a:pPr>
              <a:spcAft>
                <a:spcPts val="800"/>
              </a:spcAft>
              <a:defRPr sz="1500" b="0">
                <a:solidFill>
                  <a:srgbClr val="1E1E1E"/>
                </a:solidFill>
              </a:defRPr>
            </a:pPr>
            <a:r>
              <a:t>• Demand variability made forecasting inconsistent across SKUs</a:t>
            </a:r>
          </a:p>
          <a:p>
            <a:pPr>
              <a:spcAft>
                <a:spcPts val="800"/>
              </a:spcAft>
              <a:defRPr sz="1500" b="0">
                <a:solidFill>
                  <a:srgbClr val="1E1E1E"/>
                </a:solidFill>
              </a:defRPr>
            </a:pPr>
            <a:r>
              <a:t>• Teams needed prioritization based on real business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2286000"/>
            <a:ext cx="3657600" cy="2651760"/>
          </a:xfrm>
          <a:prstGeom prst="rect">
            <a:avLst/>
          </a:prstGeom>
          <a:solidFill>
            <a:srgbClr val="FFFFFF"/>
          </a:solidFill>
          <a:ln w="25400">
            <a:solidFill>
              <a:srgbClr val="2D73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spcAft>
                <a:spcPts val="800"/>
              </a:spcAft>
              <a:defRPr sz="2000" b="1">
                <a:solidFill>
                  <a:srgbClr val="123456"/>
                </a:solidFill>
              </a:defRPr>
            </a:pPr>
            <a:r>
              <a:t>Solution</a:t>
            </a:r>
          </a:p>
          <a:p>
            <a:pPr>
              <a:spcAft>
                <a:spcPts val="800"/>
              </a:spcAft>
              <a:defRPr sz="1500" b="0">
                <a:solidFill>
                  <a:srgbClr val="1E1E1E"/>
                </a:solidFill>
              </a:defRPr>
            </a:pPr>
            <a:r>
              <a:t>• Forecasted demand using historical sales and operational signals</a:t>
            </a:r>
          </a:p>
          <a:p>
            <a:pPr>
              <a:spcAft>
                <a:spcPts val="800"/>
              </a:spcAft>
              <a:defRPr sz="1500" b="0">
                <a:solidFill>
                  <a:srgbClr val="1E1E1E"/>
                </a:solidFill>
              </a:defRPr>
            </a:pPr>
            <a:r>
              <a:t>• Flagged SKU risk using cover ratio, lead time, and trend indicators</a:t>
            </a:r>
          </a:p>
          <a:p>
            <a:pPr>
              <a:spcAft>
                <a:spcPts val="800"/>
              </a:spcAft>
              <a:defRPr sz="1500" b="0">
                <a:solidFill>
                  <a:srgbClr val="1E1E1E"/>
                </a:solidFill>
              </a:defRPr>
            </a:pPr>
            <a:r>
              <a:t>• Delivered explainable insights and Q&amp;A for decision support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8778240" y="2286000"/>
            <a:ext cx="2743200" cy="2651760"/>
          </a:xfrm>
          <a:prstGeom prst="rect">
            <a:avLst/>
          </a:prstGeom>
          <a:solidFill>
            <a:srgbClr val="123456"/>
          </a:solidFill>
          <a:ln>
            <a:solidFill>
              <a:srgbClr val="12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spcAft>
                <a:spcPts val="800"/>
              </a:spcAft>
              <a:defRPr sz="1700" b="1">
                <a:solidFill>
                  <a:srgbClr val="FFFFFF"/>
                </a:solidFill>
              </a:defRPr>
            </a:pPr>
            <a:r>
              <a:t>Business Value</a:t>
            </a:r>
          </a:p>
          <a:p>
            <a:pPr>
              <a:spcAft>
                <a:spcPts val="800"/>
              </a:spcAft>
              <a:defRPr sz="1400" b="0">
                <a:solidFill>
                  <a:srgbClr val="FFFFFF"/>
                </a:solidFill>
              </a:defRPr>
            </a:pPr>
            <a:r>
              <a:t>Reduced risk, better planning, faster inventory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6606A"/>
                </a:solidFill>
              </a:defRPr>
            </a:pPr>
            <a:r>
              <a:t>AI-powered supply chain risk management for SKU prioritization and replenishment visibility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456"/>
                </a:solidFill>
              </a:defRPr>
            </a:pPr>
            <a:r>
              <a:t>1. 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0">
                <a:solidFill>
                  <a:srgbClr val="1E1E1E"/>
                </a:solidFill>
              </a:defRPr>
            </a:pPr>
            <a:r>
              <a:t>• Inventory teams were making decisions without a clear risk signal for every SKU.</a:t>
            </a:r>
          </a:p>
          <a:p>
            <a:pPr>
              <a:spcAft>
                <a:spcPts val="1400"/>
              </a:spcAft>
              <a:defRPr sz="2200" b="0">
                <a:solidFill>
                  <a:srgbClr val="1E1E1E"/>
                </a:solidFill>
              </a:defRPr>
            </a:pPr>
            <a:r>
              <a:t>• This created both stockouts and excess inventory, hurting service levels and cash flow.</a:t>
            </a:r>
          </a:p>
          <a:p>
            <a:pPr>
              <a:spcAft>
                <a:spcPts val="1400"/>
              </a:spcAft>
              <a:defRPr sz="2200" b="0">
                <a:solidFill>
                  <a:srgbClr val="1E1E1E"/>
                </a:solidFill>
              </a:defRPr>
            </a:pPr>
            <a:r>
              <a:t>• The challenge was to move from reactive replenishment to proactive, data-driven stock risk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456"/>
                </a:solidFill>
              </a:defRPr>
            </a:pPr>
            <a:r>
              <a:t>2. Solution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20040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2D73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200" b="1">
                <a:solidFill>
                  <a:srgbClr val="123456"/>
                </a:solidFill>
              </a:defRPr>
            </a:pPr>
            <a:r>
              <a:t>Data + Features</a:t>
            </a:r>
          </a:p>
          <a:p>
            <a:pPr>
              <a:spcAft>
                <a:spcPts val="800"/>
              </a:spcAft>
              <a:defRPr sz="1700" b="0">
                <a:solidFill>
                  <a:srgbClr val="1E1E1E"/>
                </a:solidFill>
              </a:defRPr>
            </a:pPr>
            <a:r>
              <a:t>Historic sales, lead time, stock levels, and trend indicators were used to build demand features.</a:t>
            </a:r>
          </a:p>
          <a:p>
            <a:pPr>
              <a:spcAft>
                <a:spcPts val="800"/>
              </a:spcAft>
              <a:defRPr sz="1700" b="0">
                <a:solidFill>
                  <a:srgbClr val="1E1E1E"/>
                </a:solidFill>
              </a:defRPr>
            </a:pPr>
            <a:r>
              <a:t>This captured both volume patterns and inventory risk drivers.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0" y="1371600"/>
            <a:ext cx="338328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2D73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200" b="1">
                <a:solidFill>
                  <a:srgbClr val="123456"/>
                </a:solidFill>
              </a:defRPr>
            </a:pPr>
            <a:r>
              <a:t>Forecast &amp; Risk Model</a:t>
            </a:r>
          </a:p>
          <a:p>
            <a:pPr>
              <a:spcAft>
                <a:spcPts val="800"/>
              </a:spcAft>
              <a:defRPr sz="1700" b="0">
                <a:solidFill>
                  <a:srgbClr val="1E1E1E"/>
                </a:solidFill>
              </a:defRPr>
            </a:pPr>
            <a:r>
              <a:t>A prediction model estimated next-day demand and classified SKUs as low, medium, or high risk.</a:t>
            </a:r>
          </a:p>
          <a:p>
            <a:pPr>
              <a:spcAft>
                <a:spcPts val="800"/>
              </a:spcAft>
              <a:defRPr sz="1700" b="0">
                <a:solidFill>
                  <a:srgbClr val="1E1E1E"/>
                </a:solidFill>
              </a:defRPr>
            </a:pPr>
            <a:r>
              <a:t>Risk scoring used cover ratio, projected demand, and stockout exposure.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1371600"/>
            <a:ext cx="3200400" cy="4114800"/>
          </a:xfrm>
          <a:prstGeom prst="rect">
            <a:avLst/>
          </a:prstGeom>
          <a:solidFill>
            <a:srgbClr val="123456"/>
          </a:solidFill>
          <a:ln>
            <a:solidFill>
              <a:srgbClr val="12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200" b="1">
                <a:solidFill>
                  <a:srgbClr val="FFFFFF"/>
                </a:solidFill>
              </a:defRPr>
            </a:pPr>
            <a:r>
              <a:t>Decision Support</a:t>
            </a:r>
          </a:p>
          <a:p>
            <a:pPr>
              <a:spcAft>
                <a:spcPts val="800"/>
              </a:spcAft>
              <a:defRPr sz="1700" b="0">
                <a:solidFill>
                  <a:srgbClr val="FFFFFF"/>
                </a:solidFill>
              </a:defRPr>
            </a:pPr>
            <a:r>
              <a:t>A dashboard and AI assistant translated the output into understandable actions for managers.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456"/>
                </a:solidFill>
              </a:defRPr>
            </a:pPr>
            <a:r>
              <a:t>3. What the Solution Delivers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2560320" cy="2468880"/>
          </a:xfrm>
          <a:prstGeom prst="rect">
            <a:avLst/>
          </a:prstGeom>
          <a:solidFill>
            <a:srgbClr val="EFF7FF"/>
          </a:solidFill>
          <a:ln w="25400">
            <a:solidFill>
              <a:srgbClr val="2D73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800" b="1">
                <a:solidFill>
                  <a:srgbClr val="123456"/>
                </a:solidFill>
              </a:defRPr>
            </a:pPr>
            <a:r>
              <a:t>SKU Risk Dashboard</a:t>
            </a:r>
          </a:p>
          <a:p>
            <a:pPr>
              <a:spcAft>
                <a:spcPts val="800"/>
              </a:spcAft>
              <a:defRPr sz="1300" b="0">
                <a:solidFill>
                  <a:srgbClr val="1E1E1E"/>
                </a:solidFill>
              </a:defRPr>
            </a:pPr>
            <a:r>
              <a:t>View all SKUs and their current risk state in one place.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3566160" y="1371600"/>
            <a:ext cx="2560320" cy="2468880"/>
          </a:xfrm>
          <a:prstGeom prst="rect">
            <a:avLst/>
          </a:prstGeom>
          <a:solidFill>
            <a:srgbClr val="EFF7FF"/>
          </a:solidFill>
          <a:ln w="25400">
            <a:solidFill>
              <a:srgbClr val="2D73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800" b="1">
                <a:solidFill>
                  <a:srgbClr val="123456"/>
                </a:solidFill>
              </a:defRPr>
            </a:pPr>
            <a:r>
              <a:t>Explainable Insights</a:t>
            </a:r>
          </a:p>
          <a:p>
            <a:pPr>
              <a:spcAft>
                <a:spcPts val="800"/>
              </a:spcAft>
              <a:defRPr sz="1300" b="0">
                <a:solidFill>
                  <a:srgbClr val="1E1E1E"/>
                </a:solidFill>
              </a:defRPr>
            </a:pPr>
            <a:r>
              <a:t>See the actual stock, lead time, and demand drivers for each SKU.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371600"/>
            <a:ext cx="2560320" cy="2468880"/>
          </a:xfrm>
          <a:prstGeom prst="rect">
            <a:avLst/>
          </a:prstGeom>
          <a:solidFill>
            <a:srgbClr val="EFF7FF"/>
          </a:solidFill>
          <a:ln w="25400">
            <a:solidFill>
              <a:srgbClr val="2D73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800" b="1">
                <a:solidFill>
                  <a:srgbClr val="123456"/>
                </a:solidFill>
              </a:defRPr>
            </a:pPr>
            <a:r>
              <a:t>Natural Language Q&amp;A</a:t>
            </a:r>
          </a:p>
          <a:p>
            <a:pPr>
              <a:spcAft>
                <a:spcPts val="800"/>
              </a:spcAft>
              <a:defRPr sz="1300" b="0">
                <a:solidFill>
                  <a:srgbClr val="1E1E1E"/>
                </a:solidFill>
              </a:defRPr>
            </a:pPr>
            <a:r>
              <a:t>Ask business questions in plain English and get grounded answers.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9235440" y="1371600"/>
            <a:ext cx="2560320" cy="2468880"/>
          </a:xfrm>
          <a:prstGeom prst="rect">
            <a:avLst/>
          </a:prstGeom>
          <a:solidFill>
            <a:srgbClr val="EFF7FF"/>
          </a:solidFill>
          <a:ln w="25400">
            <a:solidFill>
              <a:srgbClr val="2D73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800" b="1">
                <a:solidFill>
                  <a:srgbClr val="123456"/>
                </a:solidFill>
              </a:defRPr>
            </a:pPr>
            <a:r>
              <a:t>Operational Prioritization</a:t>
            </a:r>
          </a:p>
          <a:p>
            <a:pPr>
              <a:spcAft>
                <a:spcPts val="800"/>
              </a:spcAft>
              <a:defRPr sz="1300" b="0">
                <a:solidFill>
                  <a:srgbClr val="1E1E1E"/>
                </a:solidFill>
              </a:defRPr>
            </a:pPr>
            <a:r>
              <a:t>Focus replenishment decisions on the SKUs with the highest risk first.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4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456"/>
                </a:solidFill>
              </a:defRPr>
            </a:pPr>
            <a:r>
              <a:t>4. Business Outcome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024128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2200" b="1">
                <a:solidFill>
                  <a:srgbClr val="123456"/>
                </a:solidFill>
              </a:defRPr>
            </a:pPr>
            <a:r>
              <a:t>This solution helps supply chain teams:</a:t>
            </a:r>
          </a:p>
          <a:p>
            <a:pPr>
              <a:spcAft>
                <a:spcPts val="1000"/>
              </a:spcAft>
              <a:defRPr sz="2000" b="0">
                <a:solidFill>
                  <a:srgbClr val="1E1E1E"/>
                </a:solidFill>
              </a:defRPr>
            </a:pPr>
            <a:r>
              <a:t>• Reduce stockout and overstock risk through faster, data-driven decisions</a:t>
            </a:r>
          </a:p>
          <a:p>
            <a:pPr>
              <a:spcAft>
                <a:spcPts val="1000"/>
              </a:spcAft>
              <a:defRPr sz="2000" b="0">
                <a:solidFill>
                  <a:srgbClr val="1E1E1E"/>
                </a:solidFill>
              </a:defRPr>
            </a:pPr>
            <a:r>
              <a:t>• Prioritize inventory action based on actual SKU risk instead of intuition</a:t>
            </a:r>
          </a:p>
          <a:p>
            <a:pPr>
              <a:spcAft>
                <a:spcPts val="1000"/>
              </a:spcAft>
              <a:defRPr sz="2000" b="0">
                <a:solidFill>
                  <a:srgbClr val="1E1E1E"/>
                </a:solidFill>
              </a:defRPr>
            </a:pPr>
            <a:r>
              <a:t>• Improve operational confidence with explainable model outputs and AI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57784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Outcome: Better inventory visibility, smarter replenishment decisions, and reduced operational risk.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